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Sin interaccion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D5562"/>
              </a:solidFill>
              <a:effectLst/>
            </c:spPr>
          </c:dPt>
          <c:dPt>
            <c:idx val="1"/>
            <c:bubble3D val="0"/>
            <c:spPr>
              <a:solidFill>
                <a:srgbClr val="5B8CFF"/>
              </a:solidFill>
              <a:effectLst/>
            </c:spPr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4F7FB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4F7FB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4F7FB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Sin interaccion</c:v>
                </c:pt>
                <c:pt idx="1">
                  <c:v>Apertura sin clic</c:v>
                </c:pt>
                <c:pt idx="2">
                  <c:v>Clic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143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firstSliceAng val="0"/>
        <c:holeSize val="64"/>
      </c:doughnutChart>
      <c:spPr>
        <a:solidFill>
          <a:srgbClr val="1A1F26">
            <a:alpha val="0"/>
          </a:srgbClr>
        </a:solidFill>
        <a:ln w="12700" cap="flat">
          <a:solidFill>
            <a:srgbClr val="1A1F2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F7FB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1A1F26">
        <a:alpha val="0"/>
      </a:srgbClr>
    </a:solidFill>
    <a:ln w="12700" cap="flat">
      <a:solidFill>
        <a:srgbClr val="1A1F26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apertura</c:v>
                </c:pt>
              </c:strCache>
            </c:strRef>
          </c:tx>
          <c:spPr>
            <a:solidFill>
              <a:srgbClr val="89B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7FB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 abr</c:v>
                  </c:pt>
                  <c:pt idx="1">
                    <c:v>13 abr</c:v>
                  </c:pt>
                  <c:pt idx="2">
                    <c:v>14 abr</c:v>
                  </c:pt>
                  <c:pt idx="3">
                    <c:v>15 abr</c:v>
                  </c:pt>
                  <c:pt idx="4">
                    <c:v>16 abr</c:v>
                  </c:pt>
                  <c:pt idx="5">
                    <c:v>17 abr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13.8</c:v>
                </c:pt>
                <c:pt idx="1">
                  <c:v>17.9</c:v>
                </c:pt>
                <c:pt idx="2">
                  <c:v>13.8</c:v>
                </c:pt>
                <c:pt idx="3">
                  <c:v>22.9</c:v>
                </c:pt>
                <c:pt idx="4">
                  <c:v>3.4</c:v>
                </c:pt>
                <c:pt idx="5">
                  <c:v>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Tasa de clic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7FB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 abr</c:v>
                  </c:pt>
                  <c:pt idx="1">
                    <c:v>13 abr</c:v>
                  </c:pt>
                  <c:pt idx="2">
                    <c:v>14 abr</c:v>
                  </c:pt>
                  <c:pt idx="3">
                    <c:v>15 abr</c:v>
                  </c:pt>
                  <c:pt idx="4">
                    <c:v>16 abr</c:v>
                  </c:pt>
                  <c:pt idx="5">
                    <c:v>17 abr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3.4</c:v>
                </c:pt>
                <c:pt idx="1">
                  <c:v>7.1</c:v>
                </c:pt>
                <c:pt idx="2">
                  <c:v>0</c:v>
                </c:pt>
                <c:pt idx="3">
                  <c:v>2.9</c:v>
                </c:pt>
                <c:pt idx="4">
                  <c:v>6.9</c:v>
                </c:pt>
                <c:pt idx="5">
                  <c:v>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F7FB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6606E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F4F7F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39414D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Tasa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6606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7F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A1F26">
            <a:alpha val="0"/>
          </a:srgbClr>
        </a:solidFill>
        <a:ln w="12700" cap="flat">
          <a:solidFill>
            <a:srgbClr val="1A1F2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F7FB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1A1F26">
        <a:alpha val="0"/>
      </a:srgbClr>
    </a:solidFill>
    <a:ln w="12700" cap="flat">
      <a:solidFill>
        <a:srgbClr val="1A1F26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Primeras aperturas</c:v>
                </c:pt>
              </c:strCache>
            </c:strRef>
          </c:tx>
          <c:spPr>
            <a:solidFill>
              <a:srgbClr val="5B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7FB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&lt;1h</c:v>
                  </c:pt>
                  <c:pt idx="1">
                    <c:v>1-4h</c:v>
                  </c:pt>
                  <c:pt idx="2">
                    <c:v>4-24h</c:v>
                  </c:pt>
                  <c:pt idx="3">
                    <c:v>&gt;24h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8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Primeros clics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7FB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&lt;1h</c:v>
                  </c:pt>
                  <c:pt idx="1">
                    <c:v>1-4h</c:v>
                  </c:pt>
                  <c:pt idx="2">
                    <c:v>4-24h</c:v>
                  </c:pt>
                  <c:pt idx="3">
                    <c:v>&gt;24h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4F7FB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6606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7F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39414D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Usuarios unicos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6606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7F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1A1F26">
            <a:alpha val="0"/>
          </a:srgbClr>
        </a:solidFill>
        <a:ln w="12700" cap="flat">
          <a:solidFill>
            <a:srgbClr val="1A1F2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F7FB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1A1F26">
        <a:alpha val="0"/>
      </a:srgbClr>
    </a:solidFill>
    <a:ln w="12700" cap="flat">
      <a:solidFill>
        <a:srgbClr val="1A1F2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CSV proporcionado por el usuario: /mnt/data/TrendVisionOne_Security_Awareness_Phishing_Simulations_20260421151034(1).csv
- Calculos derivados por OpenAI a partir de correos unicos por usuario para aperturas y clics.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CSV proporcionado por el usuario: /mnt/data/TrendVisionOne_Security_Awareness_Phishing_Simulations_20260421151034(1).csv
- Calculos derivados por OpenAI a partir de correos unicos por usuario para aperturas y clics.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CSV proporcionado por el usuario: /mnt/data/TrendVisionOne_Security_Awareness_Phishing_Simulations_20260421151034(1).csv
- Calculos derivados por OpenAI a partir de correos unicos por usuario para aperturas y clics.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CSV proporcionado por el usuario: /mnt/data/TrendVisionOne_Security_Awareness_Phishing_Simulations_20260421151034(1).csv
- Calculos derivados por OpenAI a partir de correos unicos por usuario para aperturas y clics.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CSV proporcionado por el usuario: /mnt/data/TrendVisionOne_Security_Awareness_Phishing_Simulations_20260421151034(1).csv
- Calculos derivados por OpenAI a partir de correos unicos por usuario para aperturas y clics.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2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21317"/>
          </a:solidFill>
          <a:ln w="12700">
            <a:solidFill>
              <a:srgbClr val="1213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analizada: 257 eventos del CSV | KPI principales en usuarios unicos entregados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744200" y="65471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pec-am.com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Simulacion de phishing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2139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B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 pec-am.com | Periodo 2026-04-10 al 2026-04-17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" y="2487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ejecutiva enfocada en exposicion real, velocidad de reaccion y acciones recomendadas.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868680"/>
            <a:ext cx="4617720" cy="5166360"/>
          </a:xfrm>
          <a:prstGeom prst="roundRect">
            <a:avLst>
              <a:gd name="adj" fmla="val 1188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0336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</a:rPr>
              <a:t>Mensajes entregados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60336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</a:rPr>
              <a:t>169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60336" y="2240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</a:rPr>
              <a:t>Aperturas unicas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260336" y="2496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9B4FF"/>
                </a:solidFill>
              </a:rPr>
              <a:t>24  |  14.2%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60336" y="3246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</a:rPr>
              <a:t>Clics unicos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60336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7  |  4.1%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260336" y="4261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</a:rPr>
              <a:t>Captura de datos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0336" y="4517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C88A"/>
                </a:solidFill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" y="3858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Lectura ejecutiva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" y="416052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riesgo observado fue bajo en captura de credenciales, pero hubo una exposicion real de 7 usuarios que hicieron clic. La prioridad ya no es la severidad del incidente, sino reducir la probabilidad de clic temprano en futuras campañas.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41248"/>
            <a:ext cx="658368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Segmentacion de usuarios entregados y principales indicadores de exposicion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7218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entregados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709928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8952" y="207568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real analizada del 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147218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Aperturas unicas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152" y="1709928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9B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2152" y="207568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14.2% sobre entregados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78608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272491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Clics unicos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962656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952" y="332841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 sobre entregados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578608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02152" y="272491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capturados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2962656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C8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02152" y="332841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hubo envio de datos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32588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572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Composicion de usuarios entregados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629400" y="1828800"/>
          <a:ext cx="45262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8580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Mensaje clave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" y="43434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</a:rPr>
              <a:t>El 85.8% de los usuarios entregados no mostro interaccion. El 14.2% abrio el correo y el 4.1% llego a hacer clic. Esto sugiere que la campana genero curiosidad moderada, pero una materializacion baja del riesgo final.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 por cohorte de envio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41248"/>
            <a:ext cx="658368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Tasas de apertura y clic sobre usuarios entregados por fecha de despliegue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7726680" cy="4526280"/>
          </a:xfrm>
          <a:prstGeom prst="roundRect">
            <a:avLst>
              <a:gd name="adj" fmla="val 1212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96112" y="1664208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298448"/>
            <a:ext cx="3017520" cy="4526280"/>
          </a:xfrm>
          <a:prstGeom prst="roundRect">
            <a:avLst>
              <a:gd name="adj" fmla="val 1818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887968" y="1591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Hallazgos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87968" y="1883664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4F7FB"/>
                </a:solidFill>
              </a:rPr>
              <a:t>• 15 abr registro la mayor tasa de apertura: 22.9%.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7FB"/>
                </a:solidFill>
              </a:rPr>
              <a:t>• 13 abr y 16 abr mostraron la mayor tasa de clic: 7.1% y 6.9%.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4F7FB"/>
                </a:solidFill>
              </a:rPr>
              <a:t>• El 16 abr hubo clics sin apertura registrada, lo que sugiere limitaciones de telemetria o acceso directo desde cliente/movil.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887968" y="46451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Implicacion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87968" y="49011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4F7FB"/>
                </a:solidFill>
              </a:rPr>
              <a:t>El riesgo no estuvo concentrado en un solo dia; conviene mantener entrenamiento recurrente.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Velocidad de interaccion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41248"/>
            <a:ext cx="658368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transcurrido entre la entrega del correo y la primera reaccion observada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7863840" cy="4526280"/>
          </a:xfrm>
          <a:prstGeom prst="roundRect">
            <a:avLst>
              <a:gd name="adj" fmla="val 1212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914400" y="1664208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298448"/>
            <a:ext cx="2880360" cy="4526280"/>
          </a:xfrm>
          <a:prstGeom prst="roundRect">
            <a:avLst>
              <a:gd name="adj" fmla="val 1905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79408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Lectura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79408" y="1865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9B4FF"/>
                </a:solidFill>
              </a:rPr>
              <a:t>1.2 h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979408" y="22311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</a:rPr>
              <a:t>mediana a primera apertura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79408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0.9 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979408" y="30358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</a:rPr>
              <a:t>mediana a primer clic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79408" y="35844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79408" y="3858768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4F7FB"/>
                </a:solidFill>
              </a:rPr>
              <a:t>• 19 de 24 aperturas ocurrieron dentro de las primeras 4 horas.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4F7FB"/>
                </a:solidFill>
              </a:rPr>
              <a:t>• Los 7 clics se concentraron por completo dentro de las primeras 4 horas.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4F7FB"/>
                </a:solidFill>
              </a:rPr>
              <a:t>• La ventana critica de exposicion es el mismo dia del envio.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Implicaciones y acciones recomendadas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12064" y="841248"/>
            <a:ext cx="658368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Prioridades para reducir el riesgo de clic en proximas simulaciones y campanas reales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298448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91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Que nos dice el resultado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F4F7FB"/>
                </a:solidFill>
              </a:rPr>
              <a:t>1. Riesgo controlado, pero real.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</a:rPr>
              <a:t>2. La exposicion sucede rapido.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</a:rPr>
              <a:t>3. El riesgo observado estuvo centrado en entorno Microsoft/Edge.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</a:rPr>
              <a:t>4. La metrica mas importante a bajar es el clic, no la apertura.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62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Soporte cuantitativo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4F7FB"/>
                </a:solidFill>
              </a:rPr>
              <a:t>• 0 usuarios ingresaron datos.</a:t>
            </a:r>
            <a:endParaRPr lang="en-US" sz="1500" dirty="0"/>
          </a:p>
          <a:p>
            <a:r>
              <a:rPr lang="en-US" sz="1500" dirty="0">
                <a:solidFill>
                  <a:srgbClr val="F4F7FB"/>
                </a:solidFill>
              </a:rPr>
              <a:t>• 7 de 7 clics provinieron desde Edge o Edge Mobile.</a:t>
            </a:r>
            <a:endParaRPr lang="en-US" sz="1500" dirty="0"/>
          </a:p>
          <a:p>
            <a:r>
              <a:rPr lang="en-US" sz="1500" dirty="0">
                <a:solidFill>
                  <a:srgbClr val="F4F7FB"/>
                </a:solidFill>
              </a:rPr>
              <a:t>• 7 de 7 clics ocurrieron en menos de 4 horas.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Plan sugerido para 30 dias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1901952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F4F7FB"/>
                </a:solidFill>
              </a:rPr>
              <a:t>1. Refuerzo dirigido a usuarios que hicieron clic con microcapsula de 10 min.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4F7FB"/>
                </a:solidFill>
              </a:rPr>
              <a:t>2. Nueva simulacion enfocada en señuelos Microsoft/SharePoint.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4F7FB"/>
                </a:solidFill>
              </a:rPr>
              <a:t>3. Recordatorio operativo el mismo dia: validar remitente, dominio y destino del enlace.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F4F7FB"/>
                </a:solidFill>
              </a:rPr>
              <a:t>4. Meta siguiente iteracion: clic &lt; 3% y datos capturados = 0.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6537960" y="4572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6"/>
                </a:solidFill>
              </a:rPr>
              <a:t>Cierre ejecutivo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48646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Madurez aceptable frente a phishing, pero con una franja pequena de usuarios que aun puede activar un incidente real. La mejora mas clara es reforzar respuesta temprana y mensajes tipo Microsoft 365.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5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- Simulacion de Phishing PEC AM</dc:title>
  <dc:subject>Resumen ejecutivo de simulacion de phishing</dc:subject>
  <dc:creator>OpenAI</dc:creator>
  <cp:lastModifiedBy>OpenAI</cp:lastModifiedBy>
  <cp:revision>1</cp:revision>
  <dcterms:created xsi:type="dcterms:W3CDTF">2026-04-21T21:43:02Z</dcterms:created>
  <dcterms:modified xsi:type="dcterms:W3CDTF">2026-04-21T21:43:02Z</dcterms:modified>
</cp:coreProperties>
</file>